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3" r:id="rId3"/>
    <p:sldId id="260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D1127-7E1B-CA1B-1C73-43BE89E1AB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1FC896-26DB-20C1-65BD-165B6FA0B8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415938-0034-6687-0DD6-0AF37D392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C0256-C67F-4CD5-BD7C-966380FA6012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DFFCC9-325F-3221-A00C-668ED6CFD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C6863-B191-29C8-F2E0-BED2046D0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1C5B69-A540-4730-8686-BB4CA8A8B2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3180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1AACB-B27F-A1A3-98A3-EA14700E1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C1EECF-AF4E-8D96-3D6F-F26CB4D581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49B9EE-EED3-FA1E-C459-728CB1AB2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C0256-C67F-4CD5-BD7C-966380FA6012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DF066F-538B-B446-C7E6-EA97744A1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58FC36-1E4E-1CE4-2161-9104ADEAB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1C5B69-A540-4730-8686-BB4CA8A8B2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6660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3D1C5-8F6F-3AA6-A151-8207F59EC6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103810-6144-1344-BF6E-388A112AE6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883EEF-0FA2-ACE2-0BF2-976CF01E0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C0256-C67F-4CD5-BD7C-966380FA6012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6D4141-B646-0B36-368B-C2FCFB4D1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BD3355-65BE-6D5B-457F-A060B5C44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1C5B69-A540-4730-8686-BB4CA8A8B2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0277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A7BEB-0DCF-EC19-D09E-488E210E5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FDA70E-997A-A8ED-5486-524BDB4717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4323ED-A41A-4785-621D-6BD00C293E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E61479-C206-7DEB-3847-CD6779B5B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C0256-C67F-4CD5-BD7C-966380FA6012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D19A7C-5075-D5E5-6128-56319F95C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BBC4E2-A76B-2E6B-EBCF-A8331BE2A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1C5B69-A540-4730-8686-BB4CA8A8B2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9000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2E02A-4ECF-36F3-9548-00E42144E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3F2E69-34EF-1C53-3C00-A82A535175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D38656-05D8-0CC7-71D3-EBC49701AB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24144A-F4C1-039A-A4F1-3AE0568A40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E6D53F-D51E-6A63-1AAB-E810CA91D2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0AC2D9-4CC3-4C27-4C42-439BC52D0F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C0256-C67F-4CD5-BD7C-966380FA6012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CF49E9-DF83-C7D8-501B-CF49D1416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3EF5DD2-44EA-0BB4-2DBD-14A221FE4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1C5B69-A540-4730-8686-BB4CA8A8B2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4313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FAEFE-48F8-9235-0C32-E884D532C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617E0B-FDDF-CDB9-2938-D237CDDE3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C0256-C67F-4CD5-BD7C-966380FA6012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7CCF41-AC84-2DF3-006B-19782D1C1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5338F8-2C5D-FDC8-AA28-19DD52BF4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1C5B69-A540-4730-8686-BB4CA8A8B2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4248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9F7067-9B6B-1142-B816-484CCAEB6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C0256-C67F-4CD5-BD7C-966380FA6012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BB7C3C-8C69-F38D-DD12-76C9AE8D4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8EEA86-0EED-CC38-1983-97D71C192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1C5B69-A540-4730-8686-BB4CA8A8B2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9697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12D0F-EC7D-BF96-06B6-D0476ACFD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8EC3BD-4FB4-5A71-CFA1-98FC6703C6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AC23DD-EB23-7EA0-9267-B33E4C7653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E23AD5-E192-356A-819D-0A6827006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C0256-C67F-4CD5-BD7C-966380FA6012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7C74A9-CAAD-4A76-FF89-CDECD6CA5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7B6C29-AE76-03DC-6089-11B038A0B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1C5B69-A540-4730-8686-BB4CA8A8B2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8094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A6BE0-22AA-60D4-EA07-C5B96325DF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87F937-B44B-5C51-6E32-E5B1ABBE38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DE81AA-9D00-5623-B96F-F3CBBF7E40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73E1EC-F26E-A3F8-5BA3-63D7D0570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C0256-C67F-4CD5-BD7C-966380FA6012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8E1AA6-5608-6EF5-B524-36F269327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7BC88F-1B27-114F-CA4F-DABA277BF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1C5B69-A540-4730-8686-BB4CA8A8B2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9532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62726-8F82-17E3-6007-9EA89EF61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182C31-6A06-F31F-1725-CB6C3A78AF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E6AC5C-D877-347E-E789-72EC0671A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C0256-C67F-4CD5-BD7C-966380FA6012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311DB6-17AA-2CB4-2A60-8975148CD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4B6378-DEE2-C4D7-5BBA-055780CDA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1C5B69-A540-4730-8686-BB4CA8A8B2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5696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5677A5A-F9B8-AC80-D7A2-67E751BEF4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BA2C50-AD86-6AD4-79E2-97269652FC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2EDA28-D3C0-3407-7089-46D73DCBB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C0256-C67F-4CD5-BD7C-966380FA6012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927863-6738-FF8F-F0B4-FB26E3D00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4E54DE-01FA-AC92-D711-CA1B652DF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1C5B69-A540-4730-8686-BB4CA8A8B2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7837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1618F76-006B-DCF8-D3DF-5F847AF1C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C1B2C5-53EC-D23E-0A3F-3DEFECEEA1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4805A3-BDBB-464A-4949-93BE130112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CC0256-C67F-4CD5-BD7C-966380FA6012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54ECB4-31AE-0E93-42CF-D04671C098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556DF8-D0A3-9BEA-E40E-40D68F40F0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1C5B69-A540-4730-8686-BB4CA8A8B2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861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3CC88-A189-49E5-F03B-E0CD39C5E83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u="sng" dirty="0"/>
              <a:t>Nexthikes IT Solution</a:t>
            </a:r>
            <a:br>
              <a:rPr lang="en-US" b="1" dirty="0"/>
            </a:br>
            <a:br>
              <a:rPr lang="en-US" b="1" dirty="0"/>
            </a:br>
            <a:endParaRPr lang="en-US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C4A532-65E3-A46C-AD5B-7D2485398E3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sz="4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Project : Exploratory Data Analysis Of Large-Scale Retail Transaction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                                                                                                                                                       </a:t>
            </a:r>
            <a:r>
              <a:rPr lang="en-US" sz="5700" b="1" dirty="0"/>
              <a:t>By : Haresh Solanki</a:t>
            </a:r>
          </a:p>
        </p:txBody>
      </p:sp>
    </p:spTree>
    <p:extLst>
      <p:ext uri="{BB962C8B-B14F-4D97-AF65-F5344CB8AC3E}">
        <p14:creationId xmlns:p14="http://schemas.microsoft.com/office/powerpoint/2010/main" val="19010562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835E171-6645-0C58-1C06-C477E04A33EB}"/>
              </a:ext>
            </a:extLst>
          </p:cNvPr>
          <p:cNvSpPr txBox="1"/>
          <p:nvPr/>
        </p:nvSpPr>
        <p:spPr>
          <a:xfrm>
            <a:off x="3092521" y="2465798"/>
            <a:ext cx="621843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 Title Slide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 dirty="0"/>
              <a:t>Title:</a:t>
            </a:r>
            <a:r>
              <a:rPr lang="en-US" dirty="0"/>
              <a:t> Exploratory Data Analysis of Large-Scale Retail Transaction Data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 dirty="0"/>
              <a:t>Subtitle:</a:t>
            </a:r>
            <a:r>
              <a:rPr lang="en-US" dirty="0"/>
              <a:t> Comprehensive Business Insights &amp; Data Driven Strategies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 dirty="0"/>
              <a:t>Presented by:</a:t>
            </a:r>
            <a:r>
              <a:rPr lang="en-US" dirty="0"/>
              <a:t> Nexthikes IT Solutions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 dirty="0"/>
              <a:t>Data Highlights:</a:t>
            </a:r>
            <a:r>
              <a:rPr lang="en-US" dirty="0"/>
              <a:t> 100,000 Records | 18 Features | Clean Dataset</a:t>
            </a:r>
          </a:p>
        </p:txBody>
      </p:sp>
    </p:spTree>
    <p:extLst>
      <p:ext uri="{BB962C8B-B14F-4D97-AF65-F5344CB8AC3E}">
        <p14:creationId xmlns:p14="http://schemas.microsoft.com/office/powerpoint/2010/main" val="5026922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58E63C6-98E6-1780-E87D-650A186A72A6}"/>
              </a:ext>
            </a:extLst>
          </p:cNvPr>
          <p:cNvSpPr txBox="1"/>
          <p:nvPr/>
        </p:nvSpPr>
        <p:spPr>
          <a:xfrm>
            <a:off x="3256908" y="2321960"/>
            <a:ext cx="588966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b="1" dirty="0">
                <a:effectLst/>
              </a:rPr>
              <a:t> Executive Summary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US" b="1" dirty="0">
                <a:effectLst/>
              </a:rPr>
              <a:t>Project Objective:</a:t>
            </a:r>
            <a:r>
              <a:rPr lang="en-US" dirty="0">
                <a:effectLst/>
              </a:rPr>
              <a:t> Understand customer purchase behaviors, operational delivery performance, and revenue generation from retail transactions.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US" b="1" dirty="0">
                <a:effectLst/>
              </a:rPr>
              <a:t>Dataset Scale:</a:t>
            </a:r>
            <a:r>
              <a:rPr lang="en-US" dirty="0">
                <a:effectLst/>
              </a:rPr>
              <a:t> Clean dataset of 100,000 entries without any duplicate or missing values.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US" b="1" dirty="0">
                <a:effectLst/>
              </a:rPr>
              <a:t>Core Insight:</a:t>
            </a:r>
            <a:r>
              <a:rPr lang="en-US" dirty="0">
                <a:effectLst/>
              </a:rPr>
              <a:t> High average transaction value (~₹64,165) driven by high quantity sales and low product returns across 10 major Indian cities.</a:t>
            </a:r>
          </a:p>
        </p:txBody>
      </p:sp>
    </p:spTree>
    <p:extLst>
      <p:ext uri="{BB962C8B-B14F-4D97-AF65-F5344CB8AC3E}">
        <p14:creationId xmlns:p14="http://schemas.microsoft.com/office/powerpoint/2010/main" val="38357624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F958CF4-7455-E779-999B-3ADDD8C019C4}"/>
              </a:ext>
            </a:extLst>
          </p:cNvPr>
          <p:cNvSpPr txBox="1"/>
          <p:nvPr/>
        </p:nvSpPr>
        <p:spPr>
          <a:xfrm>
            <a:off x="3048856" y="1584909"/>
            <a:ext cx="6097712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1800" b="1" dirty="0">
                <a:effectLst/>
              </a:rPr>
              <a:t> Dataset Architecture &amp; Data Health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US" sz="1800" b="1" dirty="0">
                <a:effectLst/>
              </a:rPr>
              <a:t>Total Volume:</a:t>
            </a:r>
            <a:r>
              <a:rPr lang="en-US" sz="1800" dirty="0">
                <a:effectLst/>
              </a:rPr>
              <a:t> 100,000 entries with 18 distinct variables.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US" sz="1800" b="1" dirty="0">
                <a:effectLst/>
              </a:rPr>
              <a:t>Data Quality Check:</a:t>
            </a:r>
            <a:endParaRPr lang="en-US" sz="1800" dirty="0">
              <a:effectLst/>
            </a:endParaRPr>
          </a:p>
          <a:p>
            <a:pPr marL="742950" lvl="1" indent="-285750" rtl="0">
              <a:buFont typeface="Arial" panose="020B0604020202020204" pitchFamily="34" charset="0"/>
              <a:buChar char="•"/>
            </a:pPr>
            <a:r>
              <a:rPr lang="en-US" sz="1800" b="1" dirty="0">
                <a:effectLst/>
              </a:rPr>
              <a:t>Duplicates:</a:t>
            </a:r>
            <a:r>
              <a:rPr lang="en-US" sz="1800" dirty="0">
                <a:effectLst/>
              </a:rPr>
              <a:t> 0</a:t>
            </a:r>
          </a:p>
          <a:p>
            <a:pPr marL="742950" lvl="1" indent="-285750" rtl="0">
              <a:buFont typeface="Arial" panose="020B0604020202020204" pitchFamily="34" charset="0"/>
              <a:buChar char="•"/>
            </a:pPr>
            <a:r>
              <a:rPr lang="en-US" sz="1800" b="1" dirty="0">
                <a:effectLst/>
              </a:rPr>
              <a:t>Missing Values:</a:t>
            </a:r>
            <a:r>
              <a:rPr lang="en-US" sz="1800" dirty="0">
                <a:effectLst/>
              </a:rPr>
              <a:t> 0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US" sz="1800" b="1" dirty="0">
                <a:effectLst/>
              </a:rPr>
              <a:t>Data Categories:</a:t>
            </a:r>
            <a:endParaRPr lang="en-US" sz="1800" dirty="0">
              <a:effectLst/>
            </a:endParaRPr>
          </a:p>
          <a:p>
            <a:pPr marL="742950" lvl="1" indent="-285750" rtl="0">
              <a:buFont typeface="Arial" panose="020B0604020202020204" pitchFamily="34" charset="0"/>
              <a:buChar char="•"/>
            </a:pPr>
            <a:r>
              <a:rPr lang="en-US" sz="1800" b="1" dirty="0">
                <a:effectLst/>
              </a:rPr>
              <a:t>Demographics:</a:t>
            </a:r>
            <a:r>
              <a:rPr lang="en-US" sz="1800" dirty="0">
                <a:effectLst/>
              </a:rPr>
              <a:t> Customer ID, Age, Gender, City, State, Customer Segment</a:t>
            </a:r>
          </a:p>
          <a:p>
            <a:pPr marL="742950" lvl="1" indent="-285750" rtl="0">
              <a:buFont typeface="Arial" panose="020B0604020202020204" pitchFamily="34" charset="0"/>
              <a:buChar char="•"/>
            </a:pPr>
            <a:r>
              <a:rPr lang="en-US" sz="1800" b="1" dirty="0">
                <a:effectLst/>
              </a:rPr>
              <a:t>Transaction Data:</a:t>
            </a:r>
            <a:r>
              <a:rPr lang="en-US" sz="1800" dirty="0">
                <a:effectLst/>
              </a:rPr>
              <a:t> Order ID, Order Date, Payment Method, Shipping Type</a:t>
            </a:r>
          </a:p>
          <a:p>
            <a:pPr marL="742950" lvl="1" indent="-285750" rtl="0">
              <a:buFont typeface="Arial" panose="020B0604020202020204" pitchFamily="34" charset="0"/>
              <a:buChar char="•"/>
            </a:pPr>
            <a:r>
              <a:rPr lang="en-US" sz="1800" b="1" dirty="0">
                <a:effectLst/>
              </a:rPr>
              <a:t>Product &amp; Sales:</a:t>
            </a:r>
            <a:r>
              <a:rPr lang="en-US" sz="1800" dirty="0">
                <a:effectLst/>
              </a:rPr>
              <a:t> Category, Subcategory, Product Price, Quantity, Discount %, Final Price</a:t>
            </a:r>
          </a:p>
          <a:p>
            <a:pPr marL="742950" lvl="1" indent="-285750" rtl="0">
              <a:buFont typeface="Arial" panose="020B0604020202020204" pitchFamily="34" charset="0"/>
              <a:buChar char="•"/>
            </a:pPr>
            <a:r>
              <a:rPr lang="en-US" sz="1800" b="1" dirty="0">
                <a:effectLst/>
              </a:rPr>
              <a:t>Logistics:</a:t>
            </a:r>
            <a:r>
              <a:rPr lang="en-US" sz="1800" dirty="0">
                <a:effectLst/>
              </a:rPr>
              <a:t> Delivery Days, Return Status</a:t>
            </a:r>
          </a:p>
        </p:txBody>
      </p:sp>
    </p:spTree>
    <p:extLst>
      <p:ext uri="{BB962C8B-B14F-4D97-AF65-F5344CB8AC3E}">
        <p14:creationId xmlns:p14="http://schemas.microsoft.com/office/powerpoint/2010/main" val="6510869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1A615CC-E5CE-C498-A535-57BED4D283C2}"/>
              </a:ext>
            </a:extLst>
          </p:cNvPr>
          <p:cNvSpPr txBox="1"/>
          <p:nvPr/>
        </p:nvSpPr>
        <p:spPr>
          <a:xfrm>
            <a:off x="3048856" y="2415906"/>
            <a:ext cx="609771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1800" b="1" dirty="0">
                <a:effectLst/>
              </a:rPr>
              <a:t> Key Numerical Metrics Summary (Statistical Overview)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US" sz="1800" b="1" dirty="0">
                <a:effectLst/>
              </a:rPr>
              <a:t>Average Customer Age:</a:t>
            </a:r>
            <a:r>
              <a:rPr lang="en-US" sz="1800" dirty="0">
                <a:effectLst/>
              </a:rPr>
              <a:t> ~41.5 years (Range: 18 - 65 years)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US" sz="1800" b="1" dirty="0">
                <a:effectLst/>
              </a:rPr>
              <a:t>Average Product Price:</a:t>
            </a:r>
            <a:r>
              <a:rPr lang="en-US" sz="1800" dirty="0">
                <a:effectLst/>
              </a:rPr>
              <a:t> ₹30,164.53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US" sz="1800" b="1" dirty="0">
                <a:effectLst/>
              </a:rPr>
              <a:t>Average Quantity per Order:</a:t>
            </a:r>
            <a:r>
              <a:rPr lang="en-US" sz="1800" dirty="0">
                <a:effectLst/>
              </a:rPr>
              <a:t> 2.5 units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US" sz="1800" b="1" dirty="0">
                <a:effectLst/>
              </a:rPr>
              <a:t>Average Discount:</a:t>
            </a:r>
            <a:r>
              <a:rPr lang="en-US" sz="1800" dirty="0">
                <a:effectLst/>
              </a:rPr>
              <a:t> 15%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US" sz="1800" b="1" dirty="0">
                <a:effectLst/>
              </a:rPr>
              <a:t>Mean Final Order Value:</a:t>
            </a:r>
            <a:r>
              <a:rPr lang="en-US" sz="1800" dirty="0">
                <a:effectLst/>
              </a:rPr>
              <a:t> ₹64,165.72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US" sz="1800" b="1" dirty="0">
                <a:effectLst/>
              </a:rPr>
              <a:t>Average Delivery Timeline:</a:t>
            </a:r>
            <a:r>
              <a:rPr lang="en-US" sz="1800" dirty="0">
                <a:effectLst/>
              </a:rPr>
              <a:t> 5.5 days</a:t>
            </a:r>
          </a:p>
        </p:txBody>
      </p:sp>
    </p:spTree>
    <p:extLst>
      <p:ext uri="{BB962C8B-B14F-4D97-AF65-F5344CB8AC3E}">
        <p14:creationId xmlns:p14="http://schemas.microsoft.com/office/powerpoint/2010/main" val="39970016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06BAE8F-5AE7-E616-78EA-1D940A169D9B}"/>
              </a:ext>
            </a:extLst>
          </p:cNvPr>
          <p:cNvSpPr txBox="1"/>
          <p:nvPr/>
        </p:nvSpPr>
        <p:spPr>
          <a:xfrm>
            <a:off x="3048856" y="2000407"/>
            <a:ext cx="609771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1800" b="1" dirty="0">
                <a:effectLst/>
              </a:rPr>
              <a:t>Revenue &amp; Pricing Dynamics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US" sz="1800" b="1" dirty="0">
                <a:effectLst/>
              </a:rPr>
              <a:t>Final Price Distribution:</a:t>
            </a:r>
            <a:endParaRPr lang="en-US" sz="1800" dirty="0">
              <a:effectLst/>
            </a:endParaRPr>
          </a:p>
          <a:p>
            <a:pPr marL="742950" lvl="1" indent="-285750" rtl="0">
              <a:buFont typeface="Arial" panose="020B0604020202020204" pitchFamily="34" charset="0"/>
              <a:buChar char="•"/>
            </a:pPr>
            <a:r>
              <a:rPr lang="en-US" sz="1800" b="1" dirty="0">
                <a:effectLst/>
              </a:rPr>
              <a:t>Minimum Price:</a:t>
            </a:r>
            <a:r>
              <a:rPr lang="en-US" sz="1800" dirty="0">
                <a:effectLst/>
              </a:rPr>
              <a:t> ₹357.00</a:t>
            </a:r>
          </a:p>
          <a:p>
            <a:pPr marL="742950" lvl="1" indent="-285750" rtl="0">
              <a:buFont typeface="Arial" panose="020B0604020202020204" pitchFamily="34" charset="0"/>
              <a:buChar char="•"/>
            </a:pPr>
            <a:r>
              <a:rPr lang="en-US" sz="1800" b="1" dirty="0">
                <a:effectLst/>
              </a:rPr>
              <a:t>Maximum Price:</a:t>
            </a:r>
            <a:r>
              <a:rPr lang="en-US" sz="1800" dirty="0">
                <a:effectLst/>
              </a:rPr>
              <a:t> ₹239,980.00</a:t>
            </a:r>
          </a:p>
          <a:p>
            <a:pPr marL="742950" lvl="1" indent="-285750" rtl="0">
              <a:buFont typeface="Arial" panose="020B0604020202020204" pitchFamily="34" charset="0"/>
              <a:buChar char="•"/>
            </a:pPr>
            <a:r>
              <a:rPr lang="en-US" sz="1800" b="1" dirty="0">
                <a:effectLst/>
              </a:rPr>
              <a:t>Median (50%):</a:t>
            </a:r>
            <a:r>
              <a:rPr lang="en-US" sz="1800" dirty="0">
                <a:effectLst/>
              </a:rPr>
              <a:t> ₹49,752.39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US" sz="1800" b="1" dirty="0">
                <a:effectLst/>
              </a:rPr>
              <a:t>Skewness Analysis:</a:t>
            </a:r>
            <a:r>
              <a:rPr lang="en-US" sz="1800" dirty="0">
                <a:effectLst/>
              </a:rPr>
              <a:t> Final price has a positive skewness of </a:t>
            </a:r>
            <a:r>
              <a:rPr lang="en-US" sz="1800" b="1" dirty="0">
                <a:effectLst/>
              </a:rPr>
              <a:t>0.93</a:t>
            </a:r>
            <a:r>
              <a:rPr lang="en-US" sz="1800" dirty="0">
                <a:effectLst/>
              </a:rPr>
              <a:t>, indicating high-value purchase spikes (premium orders).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US" sz="1800" b="1" dirty="0">
                <a:effectLst/>
              </a:rPr>
              <a:t>Discount Impact:</a:t>
            </a:r>
            <a:r>
              <a:rPr lang="en-US" sz="1800" dirty="0">
                <a:effectLst/>
              </a:rPr>
              <a:t> Average 15% discount applied across products, ranging from 0% to 30%.</a:t>
            </a:r>
          </a:p>
        </p:txBody>
      </p:sp>
    </p:spTree>
    <p:extLst>
      <p:ext uri="{BB962C8B-B14F-4D97-AF65-F5344CB8AC3E}">
        <p14:creationId xmlns:p14="http://schemas.microsoft.com/office/powerpoint/2010/main" val="32985312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3A2C4B6-851C-BBC7-E1FE-2866D7155F48}"/>
              </a:ext>
            </a:extLst>
          </p:cNvPr>
          <p:cNvSpPr txBox="1"/>
          <p:nvPr/>
        </p:nvSpPr>
        <p:spPr>
          <a:xfrm>
            <a:off x="3048856" y="1723408"/>
            <a:ext cx="609771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1800" b="1" dirty="0">
                <a:effectLst/>
              </a:rPr>
              <a:t> Customer Demographics Analysis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US" sz="1800" b="1" dirty="0">
                <a:effectLst/>
              </a:rPr>
              <a:t>Age Distribution:</a:t>
            </a:r>
            <a:endParaRPr lang="en-US" sz="1800" dirty="0">
              <a:effectLst/>
            </a:endParaRPr>
          </a:p>
          <a:p>
            <a:pPr marL="742950" lvl="1" indent="-285750" rtl="0">
              <a:buFont typeface="Arial" panose="020B0604020202020204" pitchFamily="34" charset="0"/>
              <a:buChar char="•"/>
            </a:pPr>
            <a:r>
              <a:rPr lang="en-US" sz="1800" dirty="0">
                <a:effectLst/>
              </a:rPr>
              <a:t>Symmetrical distribution around the mean age of 41.5 years (Skewness: -0.004).</a:t>
            </a:r>
          </a:p>
          <a:p>
            <a:pPr marL="742950" lvl="1" indent="-285750" rtl="0">
              <a:buFont typeface="Arial" panose="020B0604020202020204" pitchFamily="34" charset="0"/>
              <a:buChar char="•"/>
            </a:pPr>
            <a:r>
              <a:rPr lang="en-US" sz="1800" dirty="0">
                <a:effectLst/>
              </a:rPr>
              <a:t>Equal engagement across young adults (18+) to senior buyers (65).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US" sz="1800" b="1" dirty="0">
                <a:effectLst/>
              </a:rPr>
              <a:t>Customer Segments:</a:t>
            </a:r>
            <a:endParaRPr lang="en-US" sz="1800" dirty="0">
              <a:effectLst/>
            </a:endParaRPr>
          </a:p>
          <a:p>
            <a:pPr marL="742950" lvl="1" indent="-285750" rtl="0">
              <a:buFont typeface="Arial" panose="020B0604020202020204" pitchFamily="34" charset="0"/>
              <a:buChar char="•"/>
            </a:pPr>
            <a:r>
              <a:rPr lang="en-US" sz="1800" b="1" dirty="0">
                <a:effectLst/>
              </a:rPr>
              <a:t>3 Major Segments:</a:t>
            </a:r>
            <a:r>
              <a:rPr lang="en-US" sz="1800" dirty="0">
                <a:effectLst/>
              </a:rPr>
              <a:t> New, Regular, and Premium Customers.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US" sz="1800" b="1" dirty="0">
                <a:effectLst/>
              </a:rPr>
              <a:t>Geographic Spread:</a:t>
            </a:r>
            <a:r>
              <a:rPr lang="en-US" sz="1800" dirty="0">
                <a:effectLst/>
              </a:rPr>
              <a:t> Coverage across 10 Cities and 9 States (including Maharashtra, Telangana, West Bengal, Rajasthan, etc.).</a:t>
            </a:r>
          </a:p>
        </p:txBody>
      </p:sp>
    </p:spTree>
    <p:extLst>
      <p:ext uri="{BB962C8B-B14F-4D97-AF65-F5344CB8AC3E}">
        <p14:creationId xmlns:p14="http://schemas.microsoft.com/office/powerpoint/2010/main" val="41526034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4B4A572-CDC3-7677-361F-721B78A972DB}"/>
              </a:ext>
            </a:extLst>
          </p:cNvPr>
          <p:cNvSpPr txBox="1"/>
          <p:nvPr/>
        </p:nvSpPr>
        <p:spPr>
          <a:xfrm>
            <a:off x="3048856" y="2138907"/>
            <a:ext cx="609771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1800" b="1" dirty="0">
                <a:effectLst/>
              </a:rPr>
              <a:t> Product Categories &amp; Diversity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US" sz="1800" b="1" dirty="0">
                <a:effectLst/>
              </a:rPr>
              <a:t>Product Hierarchy:</a:t>
            </a:r>
            <a:endParaRPr lang="en-US" sz="1800" dirty="0">
              <a:effectLst/>
            </a:endParaRPr>
          </a:p>
          <a:p>
            <a:pPr marL="742950" lvl="1" indent="-285750" rtl="0">
              <a:buFont typeface="Arial" panose="020B0604020202020204" pitchFamily="34" charset="0"/>
              <a:buChar char="•"/>
            </a:pPr>
            <a:r>
              <a:rPr lang="en-US" sz="1800" b="1" dirty="0">
                <a:effectLst/>
              </a:rPr>
              <a:t>6 Main Categories:</a:t>
            </a:r>
            <a:r>
              <a:rPr lang="en-US" sz="1800" dirty="0">
                <a:effectLst/>
              </a:rPr>
              <a:t> Electronics, Fashion, Beauty, Health, Grocery, etc.</a:t>
            </a:r>
          </a:p>
          <a:p>
            <a:pPr marL="742950" lvl="1" indent="-285750" rtl="0">
              <a:buFont typeface="Arial" panose="020B0604020202020204" pitchFamily="34" charset="0"/>
              <a:buChar char="•"/>
            </a:pPr>
            <a:r>
              <a:rPr lang="en-US" sz="1800" b="1" dirty="0">
                <a:effectLst/>
              </a:rPr>
              <a:t>21 Subcategories:</a:t>
            </a:r>
            <a:r>
              <a:rPr lang="en-US" sz="1800" dirty="0">
                <a:effectLst/>
              </a:rPr>
              <a:t> Smartphone, Protein Powder, Perfume, Shampoo, Women Dress, Men T-Shirt, Snacks, Supplements, etc.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US" sz="1800" b="1" dirty="0">
                <a:effectLst/>
              </a:rPr>
              <a:t>Product Pricing Range:</a:t>
            </a:r>
            <a:r>
              <a:rPr lang="en-US" sz="1800" dirty="0">
                <a:effectLst/>
              </a:rPr>
              <a:t> Items priced between ₹500 and ₹59,998 before discount.</a:t>
            </a:r>
          </a:p>
        </p:txBody>
      </p:sp>
    </p:spTree>
    <p:extLst>
      <p:ext uri="{BB962C8B-B14F-4D97-AF65-F5344CB8AC3E}">
        <p14:creationId xmlns:p14="http://schemas.microsoft.com/office/powerpoint/2010/main" val="32253570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4D7DC87-A8F2-F980-88E9-64BC6BB0189F}"/>
              </a:ext>
            </a:extLst>
          </p:cNvPr>
          <p:cNvSpPr txBox="1"/>
          <p:nvPr/>
        </p:nvSpPr>
        <p:spPr>
          <a:xfrm>
            <a:off x="3048856" y="2138907"/>
            <a:ext cx="609771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1800" b="1" dirty="0">
                <a:effectLst/>
              </a:rPr>
              <a:t> Payment Methods &amp; Customer Preferences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US" sz="1800" b="1" dirty="0">
                <a:effectLst/>
              </a:rPr>
              <a:t>4 Unique Payment Modes:</a:t>
            </a:r>
            <a:endParaRPr lang="en-US" sz="1800" dirty="0">
              <a:effectLst/>
            </a:endParaRPr>
          </a:p>
          <a:p>
            <a:pPr marL="742950" lvl="1" indent="-285750" rtl="0">
              <a:buFont typeface="Arial" panose="020B0604020202020204" pitchFamily="34" charset="0"/>
              <a:buChar char="•"/>
            </a:pPr>
            <a:r>
              <a:rPr lang="en-US" sz="1800" dirty="0">
                <a:effectLst/>
              </a:rPr>
              <a:t>UPI</a:t>
            </a:r>
          </a:p>
          <a:p>
            <a:pPr marL="742950" lvl="1" indent="-285750" rtl="0">
              <a:buFont typeface="Arial" panose="020B0604020202020204" pitchFamily="34" charset="0"/>
              <a:buChar char="•"/>
            </a:pPr>
            <a:r>
              <a:rPr lang="en-US" sz="1800" dirty="0">
                <a:effectLst/>
              </a:rPr>
              <a:t>Credit Card</a:t>
            </a:r>
          </a:p>
          <a:p>
            <a:pPr marL="742950" lvl="1" indent="-285750" rtl="0">
              <a:buFont typeface="Arial" panose="020B0604020202020204" pitchFamily="34" charset="0"/>
              <a:buChar char="•"/>
            </a:pPr>
            <a:r>
              <a:rPr lang="en-US" sz="1800" dirty="0">
                <a:effectLst/>
              </a:rPr>
              <a:t>Debit Card</a:t>
            </a:r>
          </a:p>
          <a:p>
            <a:pPr marL="742950" lvl="1" indent="-285750" rtl="0">
              <a:buFont typeface="Arial" panose="020B0604020202020204" pitchFamily="34" charset="0"/>
              <a:buChar char="•"/>
            </a:pPr>
            <a:r>
              <a:rPr lang="en-US" sz="1800" dirty="0">
                <a:effectLst/>
              </a:rPr>
              <a:t>Cash on Delivery (COD)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US" sz="1800" b="1" dirty="0">
                <a:effectLst/>
              </a:rPr>
              <a:t>Strategic Observation:</a:t>
            </a:r>
            <a:r>
              <a:rPr lang="en-US" sz="1800" dirty="0">
                <a:effectLst/>
              </a:rPr>
              <a:t> Equal preference across digital (UPI/Cards) and traditional (COD) methods requires robust payment gateway support.</a:t>
            </a:r>
          </a:p>
        </p:txBody>
      </p:sp>
    </p:spTree>
    <p:extLst>
      <p:ext uri="{BB962C8B-B14F-4D97-AF65-F5344CB8AC3E}">
        <p14:creationId xmlns:p14="http://schemas.microsoft.com/office/powerpoint/2010/main" val="23674783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DA0A1A2-E273-D8F1-B650-507C40FF160E}"/>
              </a:ext>
            </a:extLst>
          </p:cNvPr>
          <p:cNvSpPr txBox="1"/>
          <p:nvPr/>
        </p:nvSpPr>
        <p:spPr>
          <a:xfrm>
            <a:off x="3048856" y="2277406"/>
            <a:ext cx="609771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1800" b="1" dirty="0">
                <a:effectLst/>
              </a:rPr>
              <a:t>Shipping &amp; Logistics Efficiency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US" sz="1800" b="1" dirty="0">
                <a:effectLst/>
              </a:rPr>
              <a:t>Shipping Types:</a:t>
            </a:r>
            <a:r>
              <a:rPr lang="en-US" sz="1800" dirty="0">
                <a:effectLst/>
              </a:rPr>
              <a:t> Express Shipping vs. Standard Shipping.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US" sz="1800" b="1" dirty="0">
                <a:effectLst/>
              </a:rPr>
              <a:t>Delivery Performance:</a:t>
            </a:r>
            <a:endParaRPr lang="en-US" sz="1800" dirty="0">
              <a:effectLst/>
            </a:endParaRPr>
          </a:p>
          <a:p>
            <a:pPr marL="742950" lvl="1" indent="-285750" rtl="0">
              <a:buFont typeface="Arial" panose="020B0604020202020204" pitchFamily="34" charset="0"/>
              <a:buChar char="•"/>
            </a:pPr>
            <a:r>
              <a:rPr lang="en-US" sz="1800" b="1" dirty="0">
                <a:effectLst/>
              </a:rPr>
              <a:t>Min Delivery Time:</a:t>
            </a:r>
            <a:r>
              <a:rPr lang="en-US" sz="1800" dirty="0">
                <a:effectLst/>
              </a:rPr>
              <a:t> 1 Day</a:t>
            </a:r>
          </a:p>
          <a:p>
            <a:pPr marL="742950" lvl="1" indent="-285750" rtl="0">
              <a:buFont typeface="Arial" panose="020B0604020202020204" pitchFamily="34" charset="0"/>
              <a:buChar char="•"/>
            </a:pPr>
            <a:r>
              <a:rPr lang="en-US" sz="1800" b="1" dirty="0">
                <a:effectLst/>
              </a:rPr>
              <a:t>Max Delivery Time:</a:t>
            </a:r>
            <a:r>
              <a:rPr lang="en-US" sz="1800" dirty="0">
                <a:effectLst/>
              </a:rPr>
              <a:t> 10 Days</a:t>
            </a:r>
          </a:p>
          <a:p>
            <a:pPr marL="742950" lvl="1" indent="-285750" rtl="0">
              <a:buFont typeface="Arial" panose="020B0604020202020204" pitchFamily="34" charset="0"/>
              <a:buChar char="•"/>
            </a:pPr>
            <a:r>
              <a:rPr lang="en-US" sz="1800" b="1" dirty="0">
                <a:effectLst/>
              </a:rPr>
              <a:t>Average Delivery Time:</a:t>
            </a:r>
            <a:r>
              <a:rPr lang="en-US" sz="1800" dirty="0">
                <a:effectLst/>
              </a:rPr>
              <a:t> 5.5 Days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US" sz="1800" b="1" dirty="0">
                <a:effectLst/>
              </a:rPr>
              <a:t>Observation:</a:t>
            </a:r>
            <a:r>
              <a:rPr lang="en-US" sz="1800" dirty="0">
                <a:effectLst/>
              </a:rPr>
              <a:t> Fast express deliveries achieve 1-day delivery turnaround.</a:t>
            </a:r>
          </a:p>
        </p:txBody>
      </p:sp>
    </p:spTree>
    <p:extLst>
      <p:ext uri="{BB962C8B-B14F-4D97-AF65-F5344CB8AC3E}">
        <p14:creationId xmlns:p14="http://schemas.microsoft.com/office/powerpoint/2010/main" val="6777297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46A10D5-D0D2-CA71-4095-C5F114C013F9}"/>
              </a:ext>
            </a:extLst>
          </p:cNvPr>
          <p:cNvSpPr txBox="1"/>
          <p:nvPr/>
        </p:nvSpPr>
        <p:spPr>
          <a:xfrm>
            <a:off x="3048856" y="2277406"/>
            <a:ext cx="609771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1800" b="1" dirty="0">
                <a:effectLst/>
              </a:rPr>
              <a:t>Product Return Rate Analysis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US" sz="1800" b="1" dirty="0">
                <a:effectLst/>
              </a:rPr>
              <a:t>Return Status Metrics:</a:t>
            </a:r>
            <a:r>
              <a:rPr lang="en-US" sz="1800" dirty="0">
                <a:effectLst/>
              </a:rPr>
              <a:t> Binary classification (</a:t>
            </a:r>
            <a:r>
              <a:rPr lang="en-US" sz="1800" dirty="0">
                <a:effectLst/>
                <a:latin typeface="+mn-lt"/>
              </a:rPr>
              <a:t>Yes</a:t>
            </a:r>
            <a:r>
              <a:rPr lang="en-US" sz="1800" dirty="0">
                <a:effectLst/>
              </a:rPr>
              <a:t> / </a:t>
            </a:r>
            <a:r>
              <a:rPr lang="en-US" sz="1800" dirty="0">
                <a:effectLst/>
                <a:latin typeface="+mn-lt"/>
              </a:rPr>
              <a:t>No</a:t>
            </a:r>
            <a:r>
              <a:rPr lang="en-US" sz="1800" dirty="0">
                <a:effectLst/>
              </a:rPr>
              <a:t>).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US" sz="1800" b="1" dirty="0">
                <a:effectLst/>
              </a:rPr>
              <a:t>Return Trends:</a:t>
            </a:r>
            <a:r>
              <a:rPr lang="en-US" sz="1800" dirty="0">
                <a:effectLst/>
              </a:rPr>
              <a:t> Low return rates observed across high-value categories, indicating accurate product listings and high customer satisfaction.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US" sz="1800" b="1" dirty="0">
                <a:effectLst/>
              </a:rPr>
              <a:t>Action Item:</a:t>
            </a:r>
            <a:r>
              <a:rPr lang="en-US" sz="1800" dirty="0">
                <a:effectLst/>
              </a:rPr>
              <a:t> Monitor returns specifically linked to Cash on Delivery and Express shipping for operational improvements.</a:t>
            </a:r>
          </a:p>
        </p:txBody>
      </p:sp>
    </p:spTree>
    <p:extLst>
      <p:ext uri="{BB962C8B-B14F-4D97-AF65-F5344CB8AC3E}">
        <p14:creationId xmlns:p14="http://schemas.microsoft.com/office/powerpoint/2010/main" val="26404243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6F0B7C0-F43A-4AAD-3D85-C1964CA0621A}"/>
              </a:ext>
            </a:extLst>
          </p:cNvPr>
          <p:cNvSpPr txBox="1"/>
          <p:nvPr/>
        </p:nvSpPr>
        <p:spPr>
          <a:xfrm>
            <a:off x="3048856" y="2277406"/>
            <a:ext cx="609771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rtl="0"/>
            <a:r>
              <a:rPr lang="en-US" sz="1800" b="1" dirty="0">
                <a:effectLst/>
              </a:rPr>
              <a:t> Univariate Analysis Highlights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US" sz="1800" b="1" dirty="0">
                <a:effectLst/>
              </a:rPr>
              <a:t>Customer Age:</a:t>
            </a:r>
            <a:r>
              <a:rPr lang="en-US" sz="1800" dirty="0">
                <a:effectLst/>
              </a:rPr>
              <a:t> Uniformly spread across age groups with no extreme bias.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US" sz="1800" b="1" dirty="0">
                <a:effectLst/>
              </a:rPr>
              <a:t>Order Quantities:</a:t>
            </a:r>
            <a:r>
              <a:rPr lang="en-US" sz="1800" dirty="0">
                <a:effectLst/>
              </a:rPr>
              <a:t> Customers buy between 1 and 4 items per order (Average: 2.5 units).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US" sz="1800" b="1" dirty="0">
                <a:effectLst/>
              </a:rPr>
              <a:t>Delivery Days:</a:t>
            </a:r>
            <a:r>
              <a:rPr lang="en-US" sz="1800" dirty="0">
                <a:effectLst/>
              </a:rPr>
              <a:t> Normal distribution centering around 5 days delivery time.</a:t>
            </a:r>
          </a:p>
        </p:txBody>
      </p:sp>
    </p:spTree>
    <p:extLst>
      <p:ext uri="{BB962C8B-B14F-4D97-AF65-F5344CB8AC3E}">
        <p14:creationId xmlns:p14="http://schemas.microsoft.com/office/powerpoint/2010/main" val="16628209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6D71EAC-9146-5A85-E256-043142CABEAE}"/>
              </a:ext>
            </a:extLst>
          </p:cNvPr>
          <p:cNvSpPr txBox="1"/>
          <p:nvPr/>
        </p:nvSpPr>
        <p:spPr>
          <a:xfrm>
            <a:off x="3048856" y="1861908"/>
            <a:ext cx="609771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rtl="0"/>
            <a:r>
              <a:rPr lang="en-US" sz="1800" b="1" dirty="0">
                <a:effectLst/>
              </a:rPr>
              <a:t> Advanced Statistical Insights (Skewness &amp; Kurtosis)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US" sz="1800" b="1" dirty="0">
                <a:effectLst/>
              </a:rPr>
              <a:t>Skewness Insights:</a:t>
            </a:r>
            <a:endParaRPr lang="en-US" sz="1800" dirty="0">
              <a:effectLst/>
            </a:endParaRPr>
          </a:p>
          <a:p>
            <a:pPr marL="742950" lvl="1" indent="-285750" rtl="0">
              <a:buFont typeface="Arial" panose="020B0604020202020204" pitchFamily="34" charset="0"/>
              <a:buChar char="•"/>
            </a:pPr>
            <a:r>
              <a:rPr lang="en-US" sz="1800" dirty="0">
                <a:effectLst/>
              </a:rPr>
              <a:t>Near 0 skewness for Age, Product Price, Quantity, and Delivery Days.</a:t>
            </a:r>
          </a:p>
          <a:p>
            <a:pPr marL="742950" lvl="1" indent="-285750" rtl="0">
              <a:buFont typeface="Arial" panose="020B0604020202020204" pitchFamily="34" charset="0"/>
              <a:buChar char="•"/>
            </a:pPr>
            <a:r>
              <a:rPr lang="en-US" sz="1800" b="1" dirty="0">
                <a:effectLst/>
              </a:rPr>
              <a:t>Final Price (0.93):</a:t>
            </a:r>
            <a:r>
              <a:rPr lang="en-US" sz="1800" dirty="0">
                <a:effectLst/>
              </a:rPr>
              <a:t> Indicates a long right tail of high-value transactions.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US" sz="1800" b="1" dirty="0">
                <a:effectLst/>
              </a:rPr>
              <a:t>Kurtosis Insights:</a:t>
            </a:r>
            <a:endParaRPr lang="en-US" sz="1800" dirty="0">
              <a:effectLst/>
            </a:endParaRPr>
          </a:p>
          <a:p>
            <a:pPr marL="742950" lvl="1" indent="-285750" rtl="0">
              <a:buFont typeface="Arial" panose="020B0604020202020204" pitchFamily="34" charset="0"/>
              <a:buChar char="•"/>
            </a:pPr>
            <a:r>
              <a:rPr lang="en-US" sz="1800" dirty="0">
                <a:effectLst/>
              </a:rPr>
              <a:t>Platykurtic distributions (Kurtosis ~ -1.2) for Age, Price, and Discounts indicate well-dispersed, non-concentrated data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46045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E73557C-FE8D-8D85-D5B6-4FBAF1ADD8FC}"/>
              </a:ext>
            </a:extLst>
          </p:cNvPr>
          <p:cNvSpPr txBox="1"/>
          <p:nvPr/>
        </p:nvSpPr>
        <p:spPr>
          <a:xfrm>
            <a:off x="3048856" y="2138907"/>
            <a:ext cx="609771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1800" b="1" dirty="0">
                <a:effectLst/>
              </a:rPr>
              <a:t>Business Opportunities &amp; Insights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US" sz="1800" b="1" dirty="0">
                <a:effectLst/>
              </a:rPr>
              <a:t>Premium Segment Upselling:</a:t>
            </a:r>
            <a:r>
              <a:rPr lang="en-US" sz="1800" dirty="0">
                <a:effectLst/>
              </a:rPr>
              <a:t> High final price skewness suggests a group of high-spending customers; target them with loyalty programs.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US" sz="1800" b="1" dirty="0">
                <a:effectLst/>
              </a:rPr>
              <a:t>Cross-Selling Potential:</a:t>
            </a:r>
            <a:r>
              <a:rPr lang="en-US" sz="1800" dirty="0">
                <a:effectLst/>
              </a:rPr>
              <a:t> Average order quantity is 2.5; bundle subcategories (e.g., Beauty + Health) to reach 3.5+ units.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US" sz="1800" b="1" dirty="0">
                <a:effectLst/>
              </a:rPr>
              <a:t>Geographic Expansion:</a:t>
            </a:r>
            <a:r>
              <a:rPr lang="en-US" sz="1800" dirty="0">
                <a:effectLst/>
              </a:rPr>
              <a:t> High transaction volumes across 10 major cities show strong urban market penetration.</a:t>
            </a:r>
          </a:p>
        </p:txBody>
      </p:sp>
    </p:spTree>
    <p:extLst>
      <p:ext uri="{BB962C8B-B14F-4D97-AF65-F5344CB8AC3E}">
        <p14:creationId xmlns:p14="http://schemas.microsoft.com/office/powerpoint/2010/main" val="2466866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285EF87-EAC7-6C54-3831-FF30557A9FCE}"/>
              </a:ext>
            </a:extLst>
          </p:cNvPr>
          <p:cNvSpPr txBox="1"/>
          <p:nvPr/>
        </p:nvSpPr>
        <p:spPr>
          <a:xfrm>
            <a:off x="3048856" y="2277406"/>
            <a:ext cx="609771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Strategic Recommendations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 dirty="0"/>
              <a:t>Optimize Logistics:</a:t>
            </a:r>
            <a:r>
              <a:rPr lang="en-US" dirty="0"/>
              <a:t> Reduce average standard delivery time from 5.5 days to under 4 days.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 dirty="0"/>
              <a:t>Targeted Discounts:</a:t>
            </a:r>
            <a:r>
              <a:rPr lang="en-US" dirty="0"/>
              <a:t> Personalize discounts instead of flat 15% offers to preserve profit margins on top-selling items.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 dirty="0"/>
              <a:t>Customer Retention:</a:t>
            </a:r>
            <a:r>
              <a:rPr lang="en-US" dirty="0"/>
              <a:t> Convert 'New' segment buyers into 'Regular' or 'Premium' through personalized post-purchase offers</a:t>
            </a:r>
          </a:p>
        </p:txBody>
      </p:sp>
    </p:spTree>
    <p:extLst>
      <p:ext uri="{BB962C8B-B14F-4D97-AF65-F5344CB8AC3E}">
        <p14:creationId xmlns:p14="http://schemas.microsoft.com/office/powerpoint/2010/main" val="34586486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B7C8630-4E79-3983-4596-A7D4E0491712}"/>
              </a:ext>
            </a:extLst>
          </p:cNvPr>
          <p:cNvSpPr txBox="1"/>
          <p:nvPr/>
        </p:nvSpPr>
        <p:spPr>
          <a:xfrm>
            <a:off x="3048856" y="2277406"/>
            <a:ext cx="609771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 Conclusion &amp; Q&amp;A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 dirty="0"/>
              <a:t>Summary:</a:t>
            </a:r>
            <a:r>
              <a:rPr lang="en-US" dirty="0"/>
              <a:t> The dataset reflects a healthy, growing retail ecosystem with diverse product offerings, flexible payment choices, and high order values.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 dirty="0"/>
              <a:t>Next Steps:</a:t>
            </a:r>
            <a:r>
              <a:rPr lang="en-US" dirty="0"/>
              <a:t> Machine Learning predictive modeling for Customer Churn, Recommendation Systems, and Return Rate Prediction.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 dirty="0"/>
              <a:t>Thank You!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211258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888</Words>
  <Application>Microsoft Office PowerPoint</Application>
  <PresentationFormat>Widescreen</PresentationFormat>
  <Paragraphs>90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Nexthikes IT Solution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Haresh Solanki</dc:creator>
  <cp:lastModifiedBy>Haresh Solanki</cp:lastModifiedBy>
  <cp:revision>1</cp:revision>
  <dcterms:created xsi:type="dcterms:W3CDTF">2026-09-25T17:31:45Z</dcterms:created>
  <dcterms:modified xsi:type="dcterms:W3CDTF">2026-09-25T17:43:59Z</dcterms:modified>
</cp:coreProperties>
</file>